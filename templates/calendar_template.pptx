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8120063" cy="10826750" type="B4ISO"/>
  <p:notesSz cx="9926638" cy="143557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20A927B8-7014-46ED-AF8F-8341FCBD8EDB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10" userDrawn="1">
          <p15:clr>
            <a:srgbClr val="A4A3A4"/>
          </p15:clr>
        </p15:guide>
        <p15:guide id="2" pos="25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254" autoAdjust="0"/>
    <p:restoredTop sz="88126" autoAdjust="0"/>
  </p:normalViewPr>
  <p:slideViewPr>
    <p:cSldViewPr>
      <p:cViewPr>
        <p:scale>
          <a:sx n="196" d="100"/>
          <a:sy n="196" d="100"/>
        </p:scale>
        <p:origin x="444" y="144"/>
      </p:cViewPr>
      <p:guideLst>
        <p:guide orient="horz" pos="3410"/>
        <p:guide pos="25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3"/>
            <a:ext cx="4301298" cy="720190"/>
          </a:xfrm>
          <a:prstGeom prst="rect">
            <a:avLst/>
          </a:prstGeom>
        </p:spPr>
        <p:txBody>
          <a:bodyPr vert="horz" lIns="106550" tIns="53275" rIns="106550" bIns="53275" rtlCol="0"/>
          <a:lstStyle>
            <a:lvl1pPr algn="l">
              <a:defRPr sz="14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488" y="3"/>
            <a:ext cx="4301298" cy="720190"/>
          </a:xfrm>
          <a:prstGeom prst="rect">
            <a:avLst/>
          </a:prstGeom>
        </p:spPr>
        <p:txBody>
          <a:bodyPr vert="horz" lIns="106550" tIns="53275" rIns="106550" bIns="53275" rtlCol="0"/>
          <a:lstStyle>
            <a:lvl1pPr algn="r">
              <a:defRPr sz="1400"/>
            </a:lvl1pPr>
          </a:lstStyle>
          <a:p>
            <a:fld id="{CB91FBD0-E707-477E-8A74-9A8F9BDABF48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48013" y="1797050"/>
            <a:ext cx="3630612" cy="4841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6550" tIns="53275" rIns="106550" bIns="53275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050" y="6908285"/>
            <a:ext cx="7940564" cy="5652558"/>
          </a:xfrm>
          <a:prstGeom prst="rect">
            <a:avLst/>
          </a:prstGeom>
        </p:spPr>
        <p:txBody>
          <a:bodyPr vert="horz" lIns="106550" tIns="53275" rIns="106550" bIns="53275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13635579"/>
            <a:ext cx="4301298" cy="720190"/>
          </a:xfrm>
          <a:prstGeom prst="rect">
            <a:avLst/>
          </a:prstGeom>
        </p:spPr>
        <p:txBody>
          <a:bodyPr vert="horz" lIns="106550" tIns="53275" rIns="106550" bIns="53275" rtlCol="0" anchor="b"/>
          <a:lstStyle>
            <a:lvl1pPr algn="l">
              <a:defRPr sz="14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488" y="13635579"/>
            <a:ext cx="4301298" cy="720190"/>
          </a:xfrm>
          <a:prstGeom prst="rect">
            <a:avLst/>
          </a:prstGeom>
        </p:spPr>
        <p:txBody>
          <a:bodyPr vert="horz" lIns="106550" tIns="53275" rIns="106550" bIns="53275" rtlCol="0" anchor="b"/>
          <a:lstStyle>
            <a:lvl1pPr algn="r">
              <a:defRPr sz="1400"/>
            </a:lvl1pPr>
          </a:lstStyle>
          <a:p>
            <a:fld id="{19A2845D-B448-4BB5-97C0-C30762FA5D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3777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2845D-B448-4BB5-97C0-C30762FA5D26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877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2845D-B448-4BB5-97C0-C30762FA5D2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40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9005" y="3363311"/>
            <a:ext cx="6902054" cy="2320734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18010" y="6135158"/>
            <a:ext cx="5684044" cy="27668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59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1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17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23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299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3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41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47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7631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355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1429" y="6957190"/>
            <a:ext cx="6902054" cy="2150313"/>
          </a:xfrm>
        </p:spPr>
        <p:txBody>
          <a:bodyPr anchor="t"/>
          <a:lstStyle>
            <a:lvl1pPr algn="l">
              <a:defRPr sz="3552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1429" y="4588839"/>
            <a:ext cx="6902054" cy="2368351"/>
          </a:xfrm>
        </p:spPr>
        <p:txBody>
          <a:bodyPr anchor="b"/>
          <a:lstStyle>
            <a:lvl1pPr marL="0" indent="0">
              <a:buNone/>
              <a:defRPr sz="1776">
                <a:solidFill>
                  <a:schemeClr val="tx1">
                    <a:tint val="75000"/>
                  </a:schemeClr>
                </a:solidFill>
              </a:defRPr>
            </a:lvl1pPr>
            <a:lvl2pPr marL="405994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2pPr>
            <a:lvl3pPr marL="811987" indent="0">
              <a:buNone/>
              <a:defRPr sz="1421">
                <a:solidFill>
                  <a:schemeClr val="tx1">
                    <a:tint val="75000"/>
                  </a:schemeClr>
                </a:solidFill>
              </a:defRPr>
            </a:lvl3pPr>
            <a:lvl4pPr marL="1217981" indent="0">
              <a:buNone/>
              <a:defRPr sz="1243">
                <a:solidFill>
                  <a:schemeClr val="tx1">
                    <a:tint val="75000"/>
                  </a:schemeClr>
                </a:solidFill>
              </a:defRPr>
            </a:lvl4pPr>
            <a:lvl5pPr marL="1623974" indent="0">
              <a:buNone/>
              <a:defRPr sz="1243">
                <a:solidFill>
                  <a:schemeClr val="tx1">
                    <a:tint val="75000"/>
                  </a:schemeClr>
                </a:solidFill>
              </a:defRPr>
            </a:lvl5pPr>
            <a:lvl6pPr marL="2029968" indent="0">
              <a:buNone/>
              <a:defRPr sz="1243">
                <a:solidFill>
                  <a:schemeClr val="tx1">
                    <a:tint val="75000"/>
                  </a:schemeClr>
                </a:solidFill>
              </a:defRPr>
            </a:lvl6pPr>
            <a:lvl7pPr marL="2435962" indent="0">
              <a:buNone/>
              <a:defRPr sz="1243">
                <a:solidFill>
                  <a:schemeClr val="tx1">
                    <a:tint val="75000"/>
                  </a:schemeClr>
                </a:solidFill>
              </a:defRPr>
            </a:lvl7pPr>
            <a:lvl8pPr marL="2841955" indent="0">
              <a:buNone/>
              <a:defRPr sz="1243">
                <a:solidFill>
                  <a:schemeClr val="tx1">
                    <a:tint val="75000"/>
                  </a:schemeClr>
                </a:solidFill>
              </a:defRPr>
            </a:lvl8pPr>
            <a:lvl9pPr marL="3247949" indent="0">
              <a:buNone/>
              <a:defRPr sz="12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97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06003" y="2526242"/>
            <a:ext cx="3586361" cy="7145155"/>
          </a:xfrm>
        </p:spPr>
        <p:txBody>
          <a:bodyPr/>
          <a:lstStyle>
            <a:lvl1pPr>
              <a:defRPr sz="2486"/>
            </a:lvl1pPr>
            <a:lvl2pPr>
              <a:defRPr sz="2131"/>
            </a:lvl2pPr>
            <a:lvl3pPr>
              <a:defRPr sz="1776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127699" y="2526242"/>
            <a:ext cx="3586361" cy="7145155"/>
          </a:xfrm>
        </p:spPr>
        <p:txBody>
          <a:bodyPr/>
          <a:lstStyle>
            <a:lvl1pPr>
              <a:defRPr sz="2486"/>
            </a:lvl1pPr>
            <a:lvl2pPr>
              <a:defRPr sz="2131"/>
            </a:lvl2pPr>
            <a:lvl3pPr>
              <a:defRPr sz="1776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3331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06003" y="2423488"/>
            <a:ext cx="3587771" cy="1009995"/>
          </a:xfrm>
        </p:spPr>
        <p:txBody>
          <a:bodyPr anchor="b"/>
          <a:lstStyle>
            <a:lvl1pPr marL="0" indent="0">
              <a:buNone/>
              <a:defRPr sz="2131" b="1"/>
            </a:lvl1pPr>
            <a:lvl2pPr marL="405994" indent="0">
              <a:buNone/>
              <a:defRPr sz="1776" b="1"/>
            </a:lvl2pPr>
            <a:lvl3pPr marL="811987" indent="0">
              <a:buNone/>
              <a:defRPr sz="1598" b="1"/>
            </a:lvl3pPr>
            <a:lvl4pPr marL="1217981" indent="0">
              <a:buNone/>
              <a:defRPr sz="1421" b="1"/>
            </a:lvl4pPr>
            <a:lvl5pPr marL="1623974" indent="0">
              <a:buNone/>
              <a:defRPr sz="1421" b="1"/>
            </a:lvl5pPr>
            <a:lvl6pPr marL="2029968" indent="0">
              <a:buNone/>
              <a:defRPr sz="1421" b="1"/>
            </a:lvl6pPr>
            <a:lvl7pPr marL="2435962" indent="0">
              <a:buNone/>
              <a:defRPr sz="1421" b="1"/>
            </a:lvl7pPr>
            <a:lvl8pPr marL="2841955" indent="0">
              <a:buNone/>
              <a:defRPr sz="1421" b="1"/>
            </a:lvl8pPr>
            <a:lvl9pPr marL="3247949" indent="0">
              <a:buNone/>
              <a:defRPr sz="1421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06003" y="3433483"/>
            <a:ext cx="3587771" cy="6237913"/>
          </a:xfrm>
        </p:spPr>
        <p:txBody>
          <a:bodyPr/>
          <a:lstStyle>
            <a:lvl1pPr>
              <a:defRPr sz="2131"/>
            </a:lvl1pPr>
            <a:lvl2pPr>
              <a:defRPr sz="1776"/>
            </a:lvl2pPr>
            <a:lvl3pPr>
              <a:defRPr sz="1598"/>
            </a:lvl3pPr>
            <a:lvl4pPr>
              <a:defRPr sz="1421"/>
            </a:lvl4pPr>
            <a:lvl5pPr>
              <a:defRPr sz="1421"/>
            </a:lvl5pPr>
            <a:lvl6pPr>
              <a:defRPr sz="1421"/>
            </a:lvl6pPr>
            <a:lvl7pPr>
              <a:defRPr sz="1421"/>
            </a:lvl7pPr>
            <a:lvl8pPr>
              <a:defRPr sz="1421"/>
            </a:lvl8pPr>
            <a:lvl9pPr>
              <a:defRPr sz="142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124879" y="2423488"/>
            <a:ext cx="3589181" cy="1009995"/>
          </a:xfrm>
        </p:spPr>
        <p:txBody>
          <a:bodyPr anchor="b"/>
          <a:lstStyle>
            <a:lvl1pPr marL="0" indent="0">
              <a:buNone/>
              <a:defRPr sz="2131" b="1"/>
            </a:lvl1pPr>
            <a:lvl2pPr marL="405994" indent="0">
              <a:buNone/>
              <a:defRPr sz="1776" b="1"/>
            </a:lvl2pPr>
            <a:lvl3pPr marL="811987" indent="0">
              <a:buNone/>
              <a:defRPr sz="1598" b="1"/>
            </a:lvl3pPr>
            <a:lvl4pPr marL="1217981" indent="0">
              <a:buNone/>
              <a:defRPr sz="1421" b="1"/>
            </a:lvl4pPr>
            <a:lvl5pPr marL="1623974" indent="0">
              <a:buNone/>
              <a:defRPr sz="1421" b="1"/>
            </a:lvl5pPr>
            <a:lvl6pPr marL="2029968" indent="0">
              <a:buNone/>
              <a:defRPr sz="1421" b="1"/>
            </a:lvl6pPr>
            <a:lvl7pPr marL="2435962" indent="0">
              <a:buNone/>
              <a:defRPr sz="1421" b="1"/>
            </a:lvl7pPr>
            <a:lvl8pPr marL="2841955" indent="0">
              <a:buNone/>
              <a:defRPr sz="1421" b="1"/>
            </a:lvl8pPr>
            <a:lvl9pPr marL="3247949" indent="0">
              <a:buNone/>
              <a:defRPr sz="1421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124879" y="3433483"/>
            <a:ext cx="3589181" cy="6237913"/>
          </a:xfrm>
        </p:spPr>
        <p:txBody>
          <a:bodyPr/>
          <a:lstStyle>
            <a:lvl1pPr>
              <a:defRPr sz="2131"/>
            </a:lvl1pPr>
            <a:lvl2pPr>
              <a:defRPr sz="1776"/>
            </a:lvl2pPr>
            <a:lvl3pPr>
              <a:defRPr sz="1598"/>
            </a:lvl3pPr>
            <a:lvl4pPr>
              <a:defRPr sz="1421"/>
            </a:lvl4pPr>
            <a:lvl5pPr>
              <a:defRPr sz="1421"/>
            </a:lvl5pPr>
            <a:lvl6pPr>
              <a:defRPr sz="1421"/>
            </a:lvl6pPr>
            <a:lvl7pPr>
              <a:defRPr sz="1421"/>
            </a:lvl7pPr>
            <a:lvl8pPr>
              <a:defRPr sz="1421"/>
            </a:lvl8pPr>
            <a:lvl9pPr>
              <a:defRPr sz="142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1980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905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406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6003" y="431065"/>
            <a:ext cx="2671445" cy="1834533"/>
          </a:xfrm>
        </p:spPr>
        <p:txBody>
          <a:bodyPr anchor="b"/>
          <a:lstStyle>
            <a:lvl1pPr algn="l">
              <a:defRPr sz="1776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174719" y="431066"/>
            <a:ext cx="4539341" cy="9240331"/>
          </a:xfrm>
        </p:spPr>
        <p:txBody>
          <a:bodyPr/>
          <a:lstStyle>
            <a:lvl1pPr>
              <a:defRPr sz="2842"/>
            </a:lvl1pPr>
            <a:lvl2pPr>
              <a:defRPr sz="2486"/>
            </a:lvl2pPr>
            <a:lvl3pPr>
              <a:defRPr sz="2131"/>
            </a:lvl3pPr>
            <a:lvl4pPr>
              <a:defRPr sz="1776"/>
            </a:lvl4pPr>
            <a:lvl5pPr>
              <a:defRPr sz="1776"/>
            </a:lvl5pPr>
            <a:lvl6pPr>
              <a:defRPr sz="1776"/>
            </a:lvl6pPr>
            <a:lvl7pPr>
              <a:defRPr sz="1776"/>
            </a:lvl7pPr>
            <a:lvl8pPr>
              <a:defRPr sz="1776"/>
            </a:lvl8pPr>
            <a:lvl9pPr>
              <a:defRPr sz="177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06003" y="2265598"/>
            <a:ext cx="2671445" cy="7405799"/>
          </a:xfrm>
        </p:spPr>
        <p:txBody>
          <a:bodyPr/>
          <a:lstStyle>
            <a:lvl1pPr marL="0" indent="0">
              <a:buNone/>
              <a:defRPr sz="1243"/>
            </a:lvl1pPr>
            <a:lvl2pPr marL="405994" indent="0">
              <a:buNone/>
              <a:defRPr sz="1066"/>
            </a:lvl2pPr>
            <a:lvl3pPr marL="811987" indent="0">
              <a:buNone/>
              <a:defRPr sz="888"/>
            </a:lvl3pPr>
            <a:lvl4pPr marL="1217981" indent="0">
              <a:buNone/>
              <a:defRPr sz="799"/>
            </a:lvl4pPr>
            <a:lvl5pPr marL="1623974" indent="0">
              <a:buNone/>
              <a:defRPr sz="799"/>
            </a:lvl5pPr>
            <a:lvl6pPr marL="2029968" indent="0">
              <a:buNone/>
              <a:defRPr sz="799"/>
            </a:lvl6pPr>
            <a:lvl7pPr marL="2435962" indent="0">
              <a:buNone/>
              <a:defRPr sz="799"/>
            </a:lvl7pPr>
            <a:lvl8pPr marL="2841955" indent="0">
              <a:buNone/>
              <a:defRPr sz="799"/>
            </a:lvl8pPr>
            <a:lvl9pPr marL="3247949" indent="0">
              <a:buNone/>
              <a:defRPr sz="799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422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91589" y="7578725"/>
            <a:ext cx="4872038" cy="894711"/>
          </a:xfrm>
        </p:spPr>
        <p:txBody>
          <a:bodyPr anchor="b"/>
          <a:lstStyle>
            <a:lvl1pPr algn="l">
              <a:defRPr sz="1776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91589" y="967390"/>
            <a:ext cx="4872038" cy="6496050"/>
          </a:xfrm>
        </p:spPr>
        <p:txBody>
          <a:bodyPr/>
          <a:lstStyle>
            <a:lvl1pPr marL="0" indent="0">
              <a:buNone/>
              <a:defRPr sz="2842"/>
            </a:lvl1pPr>
            <a:lvl2pPr marL="405994" indent="0">
              <a:buNone/>
              <a:defRPr sz="2486"/>
            </a:lvl2pPr>
            <a:lvl3pPr marL="811987" indent="0">
              <a:buNone/>
              <a:defRPr sz="2131"/>
            </a:lvl3pPr>
            <a:lvl4pPr marL="1217981" indent="0">
              <a:buNone/>
              <a:defRPr sz="1776"/>
            </a:lvl4pPr>
            <a:lvl5pPr marL="1623974" indent="0">
              <a:buNone/>
              <a:defRPr sz="1776"/>
            </a:lvl5pPr>
            <a:lvl6pPr marL="2029968" indent="0">
              <a:buNone/>
              <a:defRPr sz="1776"/>
            </a:lvl6pPr>
            <a:lvl7pPr marL="2435962" indent="0">
              <a:buNone/>
              <a:defRPr sz="1776"/>
            </a:lvl7pPr>
            <a:lvl8pPr marL="2841955" indent="0">
              <a:buNone/>
              <a:defRPr sz="1776"/>
            </a:lvl8pPr>
            <a:lvl9pPr marL="3247949" indent="0">
              <a:buNone/>
              <a:defRPr sz="1776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91589" y="8473436"/>
            <a:ext cx="4872038" cy="1270639"/>
          </a:xfrm>
        </p:spPr>
        <p:txBody>
          <a:bodyPr/>
          <a:lstStyle>
            <a:lvl1pPr marL="0" indent="0">
              <a:buNone/>
              <a:defRPr sz="1243"/>
            </a:lvl1pPr>
            <a:lvl2pPr marL="405994" indent="0">
              <a:buNone/>
              <a:defRPr sz="1066"/>
            </a:lvl2pPr>
            <a:lvl3pPr marL="811987" indent="0">
              <a:buNone/>
              <a:defRPr sz="888"/>
            </a:lvl3pPr>
            <a:lvl4pPr marL="1217981" indent="0">
              <a:buNone/>
              <a:defRPr sz="799"/>
            </a:lvl4pPr>
            <a:lvl5pPr marL="1623974" indent="0">
              <a:buNone/>
              <a:defRPr sz="799"/>
            </a:lvl5pPr>
            <a:lvl6pPr marL="2029968" indent="0">
              <a:buNone/>
              <a:defRPr sz="799"/>
            </a:lvl6pPr>
            <a:lvl7pPr marL="2435962" indent="0">
              <a:buNone/>
              <a:defRPr sz="799"/>
            </a:lvl7pPr>
            <a:lvl8pPr marL="2841955" indent="0">
              <a:buNone/>
              <a:defRPr sz="799"/>
            </a:lvl8pPr>
            <a:lvl9pPr marL="3247949" indent="0">
              <a:buNone/>
              <a:defRPr sz="799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04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1436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5887046" y="433573"/>
            <a:ext cx="1827014" cy="9237824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06003" y="433573"/>
            <a:ext cx="5345708" cy="9237824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7900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06003" y="433572"/>
            <a:ext cx="7308057" cy="1804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06003" y="2526242"/>
            <a:ext cx="7308057" cy="7145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06003" y="10034794"/>
            <a:ext cx="1894681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62018-DAEB-44C0-9D1D-EE83ECDFB71F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774355" y="10034794"/>
            <a:ext cx="2571353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819379" y="10034794"/>
            <a:ext cx="1894681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EB8B0-3B87-4085-8324-F6B66AA2E19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453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11987" rtl="0" eaLnBrk="1" latinLnBrk="1" hangingPunct="1">
        <a:spcBef>
          <a:spcPct val="0"/>
        </a:spcBef>
        <a:buNone/>
        <a:defRPr sz="39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495" indent="-304495" algn="l" defTabSz="811987" rtl="0" eaLnBrk="1" latinLnBrk="1" hangingPunct="1">
        <a:spcBef>
          <a:spcPct val="20000"/>
        </a:spcBef>
        <a:buFont typeface="Arial" panose="020B0604020202020204" pitchFamily="34" charset="0"/>
        <a:buChar char="•"/>
        <a:defRPr sz="2842" kern="1200">
          <a:solidFill>
            <a:schemeClr val="tx1"/>
          </a:solidFill>
          <a:latin typeface="+mn-lt"/>
          <a:ea typeface="+mn-ea"/>
          <a:cs typeface="+mn-cs"/>
        </a:defRPr>
      </a:lvl1pPr>
      <a:lvl2pPr marL="659740" indent="-253746" algn="l" defTabSz="811987" rtl="0" eaLnBrk="1" latinLnBrk="1" hangingPunct="1">
        <a:spcBef>
          <a:spcPct val="20000"/>
        </a:spcBef>
        <a:buFont typeface="Arial" panose="020B0604020202020204" pitchFamily="34" charset="0"/>
        <a:buChar char="–"/>
        <a:defRPr sz="2486" kern="1200">
          <a:solidFill>
            <a:schemeClr val="tx1"/>
          </a:solidFill>
          <a:latin typeface="+mn-lt"/>
          <a:ea typeface="+mn-ea"/>
          <a:cs typeface="+mn-cs"/>
        </a:defRPr>
      </a:lvl2pPr>
      <a:lvl3pPr marL="1014984" indent="-202997" algn="l" defTabSz="811987" rtl="0" eaLnBrk="1" latinLnBrk="1" hangingPunct="1">
        <a:spcBef>
          <a:spcPct val="20000"/>
        </a:spcBef>
        <a:buFont typeface="Arial" panose="020B0604020202020204" pitchFamily="34" charset="0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3pPr>
      <a:lvl4pPr marL="1420978" indent="-202997" algn="l" defTabSz="811987" rtl="0" eaLnBrk="1" latinLnBrk="1" hangingPunct="1">
        <a:spcBef>
          <a:spcPct val="20000"/>
        </a:spcBef>
        <a:buFont typeface="Arial" panose="020B0604020202020204" pitchFamily="34" charset="0"/>
        <a:buChar char="–"/>
        <a:defRPr sz="1776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indent="-202997" algn="l" defTabSz="811987" rtl="0" eaLnBrk="1" latinLnBrk="1" hangingPunct="1">
        <a:spcBef>
          <a:spcPct val="20000"/>
        </a:spcBef>
        <a:buFont typeface="Arial" panose="020B0604020202020204" pitchFamily="34" charset="0"/>
        <a:buChar char="»"/>
        <a:defRPr sz="1776" kern="1200">
          <a:solidFill>
            <a:schemeClr val="tx1"/>
          </a:solidFill>
          <a:latin typeface="+mn-lt"/>
          <a:ea typeface="+mn-ea"/>
          <a:cs typeface="+mn-cs"/>
        </a:defRPr>
      </a:lvl5pPr>
      <a:lvl6pPr marL="2232965" indent="-202997" algn="l" defTabSz="811987" rtl="0" eaLnBrk="1" latinLnBrk="1" hangingPunct="1">
        <a:spcBef>
          <a:spcPct val="20000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6pPr>
      <a:lvl7pPr marL="2638958" indent="-202997" algn="l" defTabSz="811987" rtl="0" eaLnBrk="1" latinLnBrk="1" hangingPunct="1">
        <a:spcBef>
          <a:spcPct val="20000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7pPr>
      <a:lvl8pPr marL="3044952" indent="-202997" algn="l" defTabSz="811987" rtl="0" eaLnBrk="1" latinLnBrk="1" hangingPunct="1">
        <a:spcBef>
          <a:spcPct val="20000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8pPr>
      <a:lvl9pPr marL="3450946" indent="-202997" algn="l" defTabSz="811987" rtl="0" eaLnBrk="1" latinLnBrk="1" hangingPunct="1">
        <a:spcBef>
          <a:spcPct val="20000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11987" rtl="0" eaLnBrk="1" latinLnBrk="1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1pPr>
      <a:lvl2pPr marL="405994" algn="l" defTabSz="811987" rtl="0" eaLnBrk="1" latinLnBrk="1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2pPr>
      <a:lvl3pPr marL="811987" algn="l" defTabSz="811987" rtl="0" eaLnBrk="1" latinLnBrk="1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3pPr>
      <a:lvl4pPr marL="1217981" algn="l" defTabSz="811987" rtl="0" eaLnBrk="1" latinLnBrk="1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4pPr>
      <a:lvl5pPr marL="1623974" algn="l" defTabSz="811987" rtl="0" eaLnBrk="1" latinLnBrk="1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5pPr>
      <a:lvl6pPr marL="2029968" algn="l" defTabSz="811987" rtl="0" eaLnBrk="1" latinLnBrk="1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6pPr>
      <a:lvl7pPr marL="2435962" algn="l" defTabSz="811987" rtl="0" eaLnBrk="1" latinLnBrk="1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7pPr>
      <a:lvl8pPr marL="2841955" algn="l" defTabSz="811987" rtl="0" eaLnBrk="1" latinLnBrk="1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8pPr>
      <a:lvl9pPr marL="3247949" algn="l" defTabSz="811987" rtl="0" eaLnBrk="1" latinLnBrk="1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kr/url?sa=i&amp;rct=j&amp;q=&amp;esrc=s&amp;source=images&amp;cd=&amp;ved=2ahUKEwjJn-SN_rLiAhUMwbwKHbaCBvcQjRx6BAgBEAU&amp;url=http://www.corp.skstoa.com/pcweb/ci&amp;psig=AOvVaw2OYFxhJQs0eSk0rowtfa0m&amp;ust=155874669349910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kr/url?sa=i&amp;rct=j&amp;q=&amp;esrc=s&amp;source=images&amp;cd=&amp;ved=2ahUKEwjJn-SN_rLiAhUMwbwKHbaCBvcQjRx6BAgBEAU&amp;url=http://www.corp.skstoa.com/pcweb/ci&amp;psig=AOvVaw2OYFxhJQs0eSk0rowtfa0m&amp;ust=155874669349910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2763887" y="99072"/>
            <a:ext cx="2621729" cy="447613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43" b="1" dirty="0" smtClean="0">
                <a:solidFill>
                  <a:schemeClr val="bg1"/>
                </a:solidFill>
              </a:rPr>
              <a:t>26</a:t>
            </a:r>
            <a:r>
              <a:rPr lang="ko-KR" altLang="en-US" sz="1243" b="1" dirty="0" smtClean="0">
                <a:solidFill>
                  <a:schemeClr val="bg1"/>
                </a:solidFill>
              </a:rPr>
              <a:t>년 품질관리팀</a:t>
            </a:r>
            <a:r>
              <a:rPr lang="en-US" altLang="ko-KR" sz="1243" b="1" dirty="0" smtClean="0">
                <a:solidFill>
                  <a:schemeClr val="bg1"/>
                </a:solidFill>
              </a:rPr>
              <a:t> </a:t>
            </a:r>
            <a:r>
              <a:rPr lang="ko-KR" altLang="en-US" sz="1243" b="1" dirty="0" smtClean="0">
                <a:solidFill>
                  <a:schemeClr val="bg1"/>
                </a:solidFill>
              </a:rPr>
              <a:t>운영 캘린더</a:t>
            </a:r>
            <a:r>
              <a:rPr lang="en-US" altLang="ko-KR" sz="1243" b="1" dirty="0" smtClean="0">
                <a:solidFill>
                  <a:schemeClr val="bg1"/>
                </a:solidFill>
              </a:rPr>
              <a:t>(</a:t>
            </a:r>
            <a:r>
              <a:rPr lang="ko-KR" altLang="en-US" sz="1243" b="1" dirty="0" smtClean="0">
                <a:solidFill>
                  <a:schemeClr val="bg1"/>
                </a:solidFill>
              </a:rPr>
              <a:t>안</a:t>
            </a:r>
            <a:r>
              <a:rPr lang="en-US" altLang="ko-KR" sz="1243" b="1" dirty="0" smtClean="0">
                <a:solidFill>
                  <a:schemeClr val="bg1"/>
                </a:solidFill>
              </a:rPr>
              <a:t>)</a:t>
            </a:r>
            <a:endParaRPr lang="ko-KR" altLang="en-US" sz="1243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821576"/>
              </p:ext>
            </p:extLst>
          </p:nvPr>
        </p:nvGraphicFramePr>
        <p:xfrm>
          <a:off x="27583" y="675812"/>
          <a:ext cx="8041643" cy="999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50">
                  <a:extLst>
                    <a:ext uri="{9D8B030D-6E8A-4147-A177-3AD203B41FA5}">
                      <a16:colId xmlns:a16="http://schemas.microsoft.com/office/drawing/2014/main" val="3425219878"/>
                    </a:ext>
                  </a:extLst>
                </a:gridCol>
                <a:gridCol w="106601">
                  <a:extLst>
                    <a:ext uri="{9D8B030D-6E8A-4147-A177-3AD203B41FA5}">
                      <a16:colId xmlns:a16="http://schemas.microsoft.com/office/drawing/2014/main" val="4250284727"/>
                    </a:ext>
                  </a:extLst>
                </a:gridCol>
                <a:gridCol w="187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28624"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900" b="1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900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198"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시즌특성</a:t>
                      </a:r>
                      <a:endParaRPr lang="ko-KR" altLang="en-US" sz="900" b="1" spc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새해</a:t>
                      </a:r>
                      <a:endParaRPr lang="en-US" altLang="ko-KR" sz="6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 명절</a:t>
                      </a:r>
                      <a:endParaRPr lang="en-US" altLang="ko-KR" sz="600" b="1" spc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발렌타인데이</a:t>
                      </a:r>
                      <a:endParaRPr lang="en-US" altLang="ko-KR" sz="6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신학기</a:t>
                      </a:r>
                      <a:endParaRPr lang="en-US" altLang="ko-KR" sz="6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화이트데이</a:t>
                      </a:r>
                      <a:endParaRPr lang="ko-KR" altLang="en-US" sz="6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봄</a:t>
                      </a:r>
                      <a:r>
                        <a:rPr lang="en-US" altLang="ko-KR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환절기</a:t>
                      </a:r>
                      <a:r>
                        <a:rPr lang="en-US" altLang="ko-KR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이사철</a:t>
                      </a:r>
                      <a:endParaRPr lang="ko-KR" altLang="en-US" sz="6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가정의 달</a:t>
                      </a:r>
                      <a:endParaRPr lang="ko-KR" altLang="en-US" sz="6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캠핑시즌</a:t>
                      </a:r>
                      <a:endParaRPr lang="en-US" altLang="ko-KR" sz="6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물놀이</a:t>
                      </a:r>
                      <a:endParaRPr lang="ko-KR" altLang="en-US" sz="6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하절기</a:t>
                      </a:r>
                      <a:endParaRPr lang="en-US" altLang="ko-KR" sz="6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휴가철</a:t>
                      </a:r>
                      <a:endParaRPr lang="en-US" altLang="ko-KR" sz="6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역시즌상품</a:t>
                      </a:r>
                      <a:endParaRPr lang="ko-KR" altLang="en-US" sz="6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추석 명절</a:t>
                      </a:r>
                      <a:endParaRPr lang="ko-KR" altLang="en-US" sz="6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가을</a:t>
                      </a:r>
                      <a:r>
                        <a:rPr lang="en-US" altLang="ko-KR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환절기</a:t>
                      </a:r>
                      <a:r>
                        <a:rPr lang="en-US" altLang="ko-KR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6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김장철</a:t>
                      </a:r>
                      <a:endParaRPr lang="en-US" altLang="ko-KR" sz="6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수능</a:t>
                      </a:r>
                      <a:endParaRPr lang="ko-KR" altLang="en-US" sz="6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크리스마스</a:t>
                      </a:r>
                      <a:endParaRPr lang="ko-KR" altLang="en-US" sz="6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7292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기획점검</a:t>
                      </a:r>
                      <a:endParaRPr lang="ko-KR" altLang="en-US" sz="9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  <a:endParaRPr lang="ko-KR" altLang="en-US" sz="9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</a:t>
                      </a:r>
                      <a:endParaRPr lang="ko-KR" altLang="en-US" sz="900" b="1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특별관리 임산물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인증여부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건강기능식품 오메가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영양성분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방한용품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신발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마스크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겨울 캠핑용품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향초</a:t>
                      </a:r>
                      <a:r>
                        <a:rPr kumimoji="0" lang="en-US" altLang="ko-KR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방향제 유해물질 점검</a:t>
                      </a:r>
                      <a:endParaRPr kumimoji="0" lang="en-US" altLang="ko-KR" sz="400" b="0" i="0" u="none" strike="noStrike" kern="0" cap="none" spc="-6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홍삼 식품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홍삼성분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동파방지용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방한용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생활용품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겨울철 농산물 배송 점검</a:t>
                      </a:r>
                      <a:endParaRPr kumimoji="0" lang="en-US" altLang="ko-KR" sz="400" b="0" i="0" u="none" strike="noStrike" kern="120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실내 운동기구  표시사항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유해물질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곰팡이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제거제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유해물질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의약외품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마스크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효능효과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기획점검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화장품 </a:t>
                      </a:r>
                      <a:r>
                        <a:rPr kumimoji="0" lang="ko-KR" altLang="en-US" sz="400" b="0" i="0" u="none" strike="noStrike" kern="0" cap="none" spc="-3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보존료</a:t>
                      </a:r>
                      <a:r>
                        <a:rPr kumimoji="0" lang="ko-KR" altLang="en-US" sz="400" b="0" i="0" u="none" strike="noStrike" kern="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사용 점검</a:t>
                      </a:r>
                      <a:endParaRPr kumimoji="0" lang="en-US" altLang="ko-KR" sz="400" b="0" i="0" u="none" strike="noStrike" kern="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화장품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미스트류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CMIT/MIT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합성수지제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운동기구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유해물질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발렌타인데이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선물세트 포장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표시사항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물티슈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미생물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설 명절 제수용품 유해물질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어린이용 한복</a:t>
                      </a:r>
                      <a:r>
                        <a:rPr kumimoji="0" lang="en-US" altLang="ko-KR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장신구</a:t>
                      </a:r>
                      <a:r>
                        <a:rPr kumimoji="0" lang="en-US" altLang="ko-KR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kumimoji="0" lang="en-US" altLang="ko-KR" sz="400" b="0" i="0" u="none" strike="noStrike" kern="0" cap="none" spc="-6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설 명절 세트상품 </a:t>
                      </a:r>
                      <a:r>
                        <a:rPr kumimoji="0" lang="ko-KR" altLang="en-US" sz="400" b="0" i="0" u="none" strike="noStrike" kern="0" cap="none" spc="-3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배송상태</a:t>
                      </a:r>
                      <a:r>
                        <a:rPr kumimoji="0" lang="ko-KR" altLang="en-US" sz="400" b="0" i="0" u="none" strike="noStrike" kern="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및 포장공간비율 점검</a:t>
                      </a:r>
                      <a:endParaRPr kumimoji="0" lang="en-US" altLang="ko-KR" sz="400" b="0" i="0" u="none" strike="noStrike" kern="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타올류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유해물질 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-5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아몬드류</a:t>
                      </a:r>
                      <a:r>
                        <a:rPr lang="ko-KR" altLang="en-US" sz="400" kern="1200" spc="-5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400" kern="1200" spc="-5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아플라톡신</a:t>
                      </a:r>
                      <a:r>
                        <a:rPr lang="ko-KR" altLang="en-US" sz="400" kern="1200" spc="-5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lang="en-US" altLang="ko-KR" sz="400" kern="1200" spc="-5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-5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가죽제품 소재 동일성 점검</a:t>
                      </a:r>
                      <a:endParaRPr lang="en-US" altLang="ko-KR" sz="400" kern="1200" spc="-5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PB 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상품 배송</a:t>
                      </a: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봉제 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품질 점검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-2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영유아식</a:t>
                      </a:r>
                      <a:r>
                        <a:rPr lang="ko-KR" altLang="en-US" sz="400" kern="1200" spc="-2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유해물질 점검</a:t>
                      </a:r>
                      <a:endParaRPr lang="en-US" altLang="ko-KR" sz="400" kern="1200" spc="-2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건강기능식품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종합비타민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기능성분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수입 건강기능식품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기능성분 함량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400" kern="1200" spc="-2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등산화 </a:t>
                      </a:r>
                      <a:r>
                        <a:rPr lang="ko-KR" altLang="en-US" sz="400" kern="1200" spc="-2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소재동일성</a:t>
                      </a:r>
                      <a:r>
                        <a:rPr lang="ko-KR" altLang="en-US" sz="400" kern="1200" spc="-2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lang="en-US" altLang="ko-KR" sz="400" kern="1200" spc="-2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영양성분 </a:t>
                      </a: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강조식품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단백질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어린이 칫솔 유해물질 점검</a:t>
                      </a:r>
                      <a:endParaRPr kumimoji="0" lang="en-US" altLang="ko-KR" sz="400" b="0" i="0" u="none" strike="noStrike" kern="0" cap="none" spc="-5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4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장기운영</a:t>
                      </a:r>
                      <a:r>
                        <a:rPr kumimoji="0" lang="ko-KR" altLang="en-US" sz="400" b="0" i="0" u="none" strike="noStrike" kern="0" cap="none" spc="-4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건강기능식품</a:t>
                      </a:r>
                      <a:r>
                        <a:rPr kumimoji="0" lang="en-US" altLang="ko-KR" sz="400" b="0" i="0" u="none" strike="noStrike" kern="0" cap="none" spc="-4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-4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프로바이오틱스수</a:t>
                      </a:r>
                      <a:r>
                        <a:rPr kumimoji="0" lang="ko-KR" altLang="en-US" sz="400" b="0" i="0" u="none" strike="noStrike" kern="0" cap="none" spc="-4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0" cap="none" spc="-4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분말 제품 </a:t>
                      </a:r>
                      <a:r>
                        <a:rPr kumimoji="0" lang="ko-KR" altLang="en-US" sz="400" b="0" i="0" u="none" strike="noStrike" kern="1200" cap="none" spc="-5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금속성이물</a:t>
                      </a:r>
                      <a:r>
                        <a:rPr kumimoji="0" lang="en-US" altLang="ko-KR" sz="400" b="0" i="0" u="none" strike="noStrike" kern="120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kumimoji="0" lang="en-US" altLang="ko-KR" sz="400" b="0" i="0" u="none" strike="noStrike" kern="1200" cap="none" spc="-5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화이트데이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선물세트 포장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표시사항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어린이 학용품 유해물질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유리 재질 주방용품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유해물질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휴대폰케이스 유해물질 점검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수입농산물 잔류농약 </a:t>
                      </a: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물질점검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춘하기간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대비 식품 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배송온도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바람막이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웨더점퍼류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기능성 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장기구성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건강식품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소비기한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3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보존료</a:t>
                      </a: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-3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무첨가</a:t>
                      </a: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식품</a:t>
                      </a:r>
                      <a:r>
                        <a:rPr kumimoji="0" lang="en-US" altLang="ko-KR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kumimoji="0" lang="en-US" altLang="ko-KR" sz="400" b="0" i="0" u="none" strike="noStrike" kern="120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제철과일 품질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자외선차단 화장품 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SPF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차단력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캔디류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기준규격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생활화학제품 방향제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안전확인신고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합성수지제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클로그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유해물질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세탁세제 미세플라스틱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3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수입차류</a:t>
                      </a: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잔류농약 점검</a:t>
                      </a:r>
                      <a:endParaRPr kumimoji="0" lang="en-US" altLang="ko-KR" sz="400" b="0" i="0" u="none" strike="noStrike" kern="120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3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볶음땅콩</a:t>
                      </a: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기준규격 점검</a:t>
                      </a:r>
                      <a:endParaRPr kumimoji="0" lang="en-US" altLang="ko-KR" sz="400" b="0" i="0" u="none" strike="noStrike" kern="120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장기저장성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과일류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농산물 중금속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린넨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소재 동일성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영</a:t>
                      </a:r>
                      <a:r>
                        <a:rPr kumimoji="0" lang="en-US" altLang="ko-KR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유아 </a:t>
                      </a:r>
                      <a:r>
                        <a:rPr kumimoji="0" lang="ko-KR" altLang="en-US" sz="400" b="0" i="0" u="none" strike="noStrike" kern="0" cap="none" spc="-6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섭취대상</a:t>
                      </a:r>
                      <a:r>
                        <a:rPr kumimoji="0" lang="ko-KR" altLang="en-US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식품</a:t>
                      </a:r>
                      <a:r>
                        <a:rPr kumimoji="0" lang="en-US" altLang="ko-KR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 </a:t>
                      </a:r>
                      <a:endParaRPr kumimoji="0" lang="en-US" altLang="ko-KR" sz="400" b="0" i="0" u="none" strike="noStrike" kern="0" cap="none" spc="-6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젤리형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건강기능식품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기능성분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초여름 도시락</a:t>
                      </a: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반찬 미생물 검사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감귤류 품질 점검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어린이 화장품 사용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금지물질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가정의달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선물세트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배송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포장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캠핌용품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spc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spc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휴대용 주방용품 점검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가정의 달 선물세트 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배송</a:t>
                      </a: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포장 점검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-5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레토르트 식품 미생물 점검</a:t>
                      </a:r>
                      <a:endParaRPr lang="en-US" altLang="ko-KR" sz="400" b="0" kern="1200" spc="-5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-5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냉동도시락</a:t>
                      </a:r>
                      <a:r>
                        <a:rPr lang="ko-KR" altLang="en-US" sz="400" b="0" kern="1200" spc="-5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400" b="0" kern="1200" spc="-5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식중독균</a:t>
                      </a:r>
                      <a:r>
                        <a:rPr lang="ko-KR" altLang="en-US" sz="400" b="0" kern="1200" spc="-5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lang="en-US" altLang="ko-KR" sz="400" b="0" kern="1200" spc="-5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-5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영유아 식품 </a:t>
                      </a:r>
                      <a:r>
                        <a:rPr lang="ko-KR" altLang="en-US" sz="400" b="0" kern="1200" spc="-5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식중독균</a:t>
                      </a:r>
                      <a:r>
                        <a:rPr lang="ko-KR" altLang="en-US" sz="400" b="0" kern="1200" spc="-5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lang="en-US" altLang="ko-KR" sz="400" b="0" kern="1200" spc="-5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간장류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3-MCPD, </a:t>
                      </a:r>
                      <a:r>
                        <a:rPr lang="ko-KR" altLang="en-US" sz="400" b="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보존재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400" b="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중의류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소재 동일성 점검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PB 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상품 배송</a:t>
                      </a: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봉제 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품질 점검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기초화장품 미생물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검출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영양성분 강조 식품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영양성분 점검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4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아쿠아슈즈</a:t>
                      </a:r>
                      <a:r>
                        <a:rPr kumimoji="0" lang="ko-KR" altLang="en-US" sz="400" b="0" i="0" u="none" strike="noStrike" kern="1200" cap="none" spc="-4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유해물질점검</a:t>
                      </a:r>
                      <a:endParaRPr kumimoji="0" lang="en-US" altLang="ko-KR" sz="400" b="0" i="0" u="none" strike="noStrike" kern="1200" cap="none" spc="-4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캠핑용 레토르트 식품 미생물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유제품 기준 규격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기초화장품 미생물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검출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5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기피제</a:t>
                      </a:r>
                      <a:r>
                        <a:rPr kumimoji="0" lang="ko-KR" altLang="en-US" sz="400" b="0" i="0" u="none" strike="noStrike" kern="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안전확인대상 점검</a:t>
                      </a:r>
                      <a:endParaRPr kumimoji="0" lang="en-US" altLang="ko-KR" sz="400" b="0" i="0" u="none" strike="noStrike" kern="0" cap="none" spc="-5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데오드란트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CMIT/MIT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검출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물놀이의류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용품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UVC </a:t>
                      </a:r>
                      <a:r>
                        <a:rPr kumimoji="0" lang="ko-KR" altLang="en-US" sz="400" b="0" i="0" u="none" strike="noStrike" kern="1200" cap="none" spc="-3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살균기능</a:t>
                      </a: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가전 점검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하절기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냉장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냉동상태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배송점검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상반기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식품평점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4.0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미만 상품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복숭아류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품질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아동용 우비</a:t>
                      </a:r>
                      <a:r>
                        <a:rPr kumimoji="0" lang="en-US" altLang="ko-KR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장화 등 장마철 용품 유해물질 점검</a:t>
                      </a:r>
                      <a:endParaRPr kumimoji="0" lang="en-US" altLang="ko-KR" sz="400" b="0" i="0" u="none" strike="noStrike" kern="120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5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슬리밍</a:t>
                      </a:r>
                      <a:r>
                        <a:rPr kumimoji="0" lang="ko-KR" altLang="en-US" sz="400" b="0" i="0" u="none" strike="noStrike" kern="120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식품 기준규격 점검</a:t>
                      </a:r>
                      <a:endParaRPr kumimoji="0" lang="en-US" altLang="ko-KR" sz="400" b="0" i="0" u="none" strike="noStrike" kern="1200" cap="none" spc="-5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선크림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화장품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양우산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표시사항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습기제거제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안전확인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신고사항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의약외품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외용소독제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주성분 함량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단백질파우더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일반식품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기준규격 점검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프라이팬 유해물질 점검</a:t>
                      </a:r>
                      <a:endParaRPr kumimoji="0" lang="en-US" altLang="ko-KR" sz="4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수입식품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검사지시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강화품목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장마철 농산물 품질 점검</a:t>
                      </a:r>
                      <a:endParaRPr kumimoji="0" lang="en-US" altLang="ko-KR" sz="400" b="0" i="0" u="none" strike="noStrike" kern="120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장기운영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식품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식육가공품 기준규격 점검</a:t>
                      </a:r>
                      <a:endParaRPr kumimoji="0" lang="en-US" altLang="ko-KR" sz="400" b="0" i="0" u="none" strike="noStrike" kern="1200" cap="none" spc="-5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알가공품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식용유지류 기준규격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구강관리용품 기준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규격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물놀이 의류 및 잡화 유해물질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6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역시즌</a:t>
                      </a:r>
                      <a:r>
                        <a:rPr kumimoji="0" lang="ko-KR" altLang="en-US" sz="4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모피</a:t>
                      </a:r>
                      <a:r>
                        <a:rPr kumimoji="0" lang="en-US" altLang="ko-KR" sz="4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4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가죽 품질 점검</a:t>
                      </a:r>
                      <a:endParaRPr kumimoji="0" lang="en-US" altLang="ko-KR" sz="400" b="0" i="0" u="none" strike="noStrike" kern="1200" cap="none" spc="-6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단백질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보충제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규격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5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하절기</a:t>
                      </a:r>
                      <a:r>
                        <a:rPr kumimoji="0" lang="ko-KR" altLang="en-US" sz="400" b="0" i="0" u="none" strike="noStrike" kern="120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-5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쿠션류</a:t>
                      </a:r>
                      <a:r>
                        <a:rPr kumimoji="0" lang="ko-KR" altLang="en-US" sz="400" b="0" i="0" u="none" strike="noStrike" kern="120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화장품</a:t>
                      </a:r>
                      <a:r>
                        <a:rPr kumimoji="0" lang="en-US" altLang="ko-KR" sz="400" b="0" i="0" u="none" strike="noStrike" kern="120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kumimoji="0" lang="en-US" altLang="ko-KR" sz="400" b="0" i="0" u="none" strike="noStrike" kern="1200" cap="none" spc="-5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장마철 농수산물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아이스크림 및 빙과류 </a:t>
                      </a: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배송상태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인체세정용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물티슈</a:t>
                      </a:r>
                      <a:endParaRPr kumimoji="0" lang="ko-KR" altLang="en-US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미생물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일회용 위생용품 기준규격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주방용품 </a:t>
                      </a: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스테인레스스틸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재질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후드믹서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휴대형 그릴 </a:t>
                      </a: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전기안전성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추석용품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제기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접시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기준규격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세정제 </a:t>
                      </a: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티슈류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유해물질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5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하절기</a:t>
                      </a:r>
                      <a:r>
                        <a:rPr kumimoji="0" lang="ko-KR" altLang="en-US" sz="400" b="0" i="0" u="none" strike="noStrike" kern="1200" cap="none" spc="-5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식품 </a:t>
                      </a:r>
                      <a:r>
                        <a:rPr kumimoji="0" lang="ko-KR" altLang="en-US" sz="400" b="0" i="0" u="none" strike="noStrike" kern="1200" cap="none" spc="-5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배송온도</a:t>
                      </a:r>
                      <a:r>
                        <a:rPr kumimoji="0" lang="ko-KR" altLang="en-US" sz="400" b="0" i="0" u="none" strike="noStrike" kern="1200" cap="none" spc="-5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-5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육회류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식중독균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장류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연어장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게장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식중독균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냉감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소재 기능성 점검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추석 선물세트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분말 식품 금속성 </a:t>
                      </a:r>
                      <a:r>
                        <a:rPr kumimoji="0" lang="ko-KR" altLang="en-US" sz="400" b="0" i="0" u="none" strike="noStrike" kern="0" cap="none" spc="-5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이물점검</a:t>
                      </a:r>
                      <a:endParaRPr kumimoji="0" lang="en-US" altLang="ko-KR" sz="400" b="0" i="0" u="none" strike="noStrike" kern="0" cap="none" spc="-5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색조 및 수입화장품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잔여 사용기한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추석 명절 식품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송편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토란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추석 명절 선물세트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포장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공간비율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흑염소 함유 식품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표시사항 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합성수지재질 수입 </a:t>
                      </a:r>
                      <a:endParaRPr kumimoji="0" lang="en-US" altLang="ko-KR" sz="4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주방용품 유해물질 점검</a:t>
                      </a:r>
                      <a:endParaRPr lang="en-US" altLang="ko-KR" sz="400" kern="1200" spc="-2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한우 유전자 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-2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떡류</a:t>
                      </a:r>
                      <a:r>
                        <a:rPr lang="ko-KR" altLang="en-US" sz="400" kern="1200" spc="-2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400" kern="1200" spc="-2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총아플라톡신</a:t>
                      </a:r>
                      <a:r>
                        <a:rPr lang="ko-KR" altLang="en-US" sz="400" kern="1200" spc="-2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lang="en-US" altLang="ko-KR" sz="400" kern="1200" spc="-2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참기름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들기름 </a:t>
                      </a: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벤조피렌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실크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가죽 등 특수 소재 품질 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PB 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상품 배송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봉제 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품질 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효소식품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기준규격 점검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두뇌 건강 건강기능식품 기능성분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키친타올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유해물질 점검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실내 운동기구  표시사항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유해물질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보온용품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보온병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도시락 등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기준규격 점검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캠핑용품</a:t>
                      </a:r>
                      <a:r>
                        <a:rPr kumimoji="0" lang="en-US" altLang="ko-KR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-2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표시시항</a:t>
                      </a:r>
                      <a:r>
                        <a:rPr kumimoji="0" lang="ko-KR" altLang="en-US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-2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캠핑용 </a:t>
                      </a: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밀키트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규격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일반식품 미세플라스틱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캐시미어 소재 니트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소품 품질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PB 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상품 배송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봉제 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식용유지류 </a:t>
                      </a:r>
                      <a:r>
                        <a:rPr kumimoji="0" lang="ko-KR" altLang="en-US" sz="400" b="0" i="0" u="none" strike="noStrike" kern="0" cap="none" spc="-5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잔류용매</a:t>
                      </a:r>
                      <a:r>
                        <a:rPr kumimoji="0" lang="ko-KR" altLang="en-US" sz="400" b="0" i="0" u="none" strike="noStrike" kern="0" cap="none" spc="-5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0" cap="none" spc="-5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젓갈류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기준규격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김장철 식재료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분사형</a:t>
                      </a:r>
                      <a:r>
                        <a:rPr kumimoji="0" lang="ko-KR" altLang="en-US" sz="400" b="0" i="0" u="none" strike="noStrike" kern="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탈취제 상품 </a:t>
                      </a:r>
                      <a:r>
                        <a:rPr kumimoji="0" lang="en-US" altLang="ko-KR" sz="400" b="0" i="0" u="none" strike="noStrike" kern="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MIT/CMIT </a:t>
                      </a:r>
                      <a:r>
                        <a:rPr kumimoji="0" lang="ko-KR" altLang="en-US" sz="400" b="0" i="0" u="none" strike="noStrike" kern="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kumimoji="0" lang="en-US" altLang="ko-KR" sz="400" b="0" i="0" u="none" strike="noStrike" kern="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김장철상품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김장용매트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장갑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전기매트 사용 온도 점검 </a:t>
                      </a:r>
                      <a:endParaRPr kumimoji="0" lang="en-US" altLang="ko-KR" sz="400" b="0" i="0" u="none" strike="noStrike" kern="120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수입올리브유 산가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요오드가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냉동어류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중금속 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김장 원재료 잔류농약점검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우모 </a:t>
                      </a:r>
                      <a:r>
                        <a:rPr kumimoji="0" lang="ko-KR" altLang="en-US" sz="400" b="0" i="0" u="none" strike="noStrike" kern="1200" cap="none" spc="-2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아우터</a:t>
                      </a:r>
                      <a:r>
                        <a:rPr kumimoji="0" lang="en-US" altLang="ko-KR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점퍼</a:t>
                      </a:r>
                      <a:r>
                        <a:rPr kumimoji="0" lang="en-US" altLang="ko-KR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베스트</a:t>
                      </a:r>
                      <a:r>
                        <a:rPr kumimoji="0" lang="en-US" altLang="ko-KR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400" b="0" i="0" u="none" strike="noStrike" kern="1200" cap="none" spc="-2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충전재</a:t>
                      </a:r>
                      <a:r>
                        <a:rPr kumimoji="0" lang="ko-KR" altLang="en-US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소재 동일성 점검</a:t>
                      </a:r>
                      <a:endParaRPr kumimoji="0" lang="en-US" altLang="ko-KR" sz="400" b="0" i="0" u="none" strike="noStrike" kern="1200" cap="none" spc="-2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헤어 제품 유해물질 점검</a:t>
                      </a:r>
                      <a:endParaRPr kumimoji="0" lang="en-US" altLang="ko-KR" sz="400" b="0" i="0" u="none" strike="noStrike" kern="120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겨울철 다소비 수산물 기준 규격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김서림방지제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동절기 유리용기 사용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기초화장품 배송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크리스마스 선물세트 포장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표시사항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초</a:t>
                      </a:r>
                      <a:r>
                        <a:rPr kumimoji="0" lang="en-US" altLang="ko-KR" sz="4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캔들</a:t>
                      </a:r>
                      <a:r>
                        <a:rPr kumimoji="0" lang="en-US" altLang="ko-KR" sz="4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400" b="0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함유금지물질 점검 </a:t>
                      </a:r>
                      <a:endParaRPr kumimoji="0" lang="en-US" altLang="ko-KR" sz="400" b="0" i="0" u="none" strike="noStrike" kern="1200" cap="none" spc="-6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유리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도자기 재질 주방용품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배송상태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유아동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방한용품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연말 가정용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홈파티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밀키트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겨울철 농산물 </a:t>
                      </a: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배송점검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우모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중의류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팬츠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충전재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소재 동일성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현장</a:t>
                      </a:r>
                      <a:endParaRPr lang="ko-KR" altLang="en-US" sz="900" b="1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과일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선별장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현장점검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설 명절 식품 제조공장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위생 현장점검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패션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PB,</a:t>
                      </a: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직매입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입고대상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품질확인 현장점검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활수산물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선별장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-3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역시즌</a:t>
                      </a:r>
                      <a:r>
                        <a:rPr lang="ko-KR" altLang="en-US" sz="400" b="0" kern="1200" spc="-3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400" b="0" kern="1200" spc="-3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PB</a:t>
                      </a:r>
                      <a:r>
                        <a:rPr lang="ko-KR" altLang="en-US" sz="400" b="0" kern="1200" spc="-3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상품</a:t>
                      </a:r>
                      <a:r>
                        <a:rPr lang="en-US" altLang="ko-KR" sz="400" b="0" kern="1200" spc="-3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400" b="0" kern="1200" spc="-3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품질 점검</a:t>
                      </a:r>
                      <a:endParaRPr kumimoji="0" lang="en-US" altLang="ko-KR" sz="400" b="0" i="0" u="none" strike="noStrike" kern="1200" cap="none" spc="-3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패션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PB,</a:t>
                      </a: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직매입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입고대상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품질확인 현장점검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b="1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추석 명절 식품 제조</a:t>
                      </a:r>
                      <a:endParaRPr kumimoji="0" lang="en-US" altLang="ko-KR" sz="400" b="0" i="0" u="none" strike="noStrike" kern="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공장 위생 현장점검</a:t>
                      </a:r>
                      <a:endParaRPr kumimoji="0" lang="en-US" altLang="ko-KR" sz="400" b="0" i="0" u="none" strike="noStrike" kern="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김치 업체 현장점검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b="1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만감류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체리류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선별장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현장점검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950245"/>
                  </a:ext>
                </a:extLst>
              </a:tr>
              <a:tr h="12646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모니터링</a:t>
                      </a:r>
                      <a:endParaRPr lang="ko-KR" altLang="en-US" sz="9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홍삼 건강기능식품</a:t>
                      </a:r>
                      <a:endParaRPr kumimoji="0" lang="en-US" altLang="ko-KR" sz="4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상품 </a:t>
                      </a:r>
                      <a:r>
                        <a:rPr kumimoji="0" lang="ko-KR" altLang="en-US" sz="400" b="0" i="0" u="none" strike="noStrike" kern="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정보고시</a:t>
                      </a: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모니터링 </a:t>
                      </a:r>
                      <a:endParaRPr kumimoji="0" lang="en-US" altLang="ko-KR" sz="4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속눈썹접착제 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마스크팩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속눈썹고데기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spc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친환경 표현 과대광고 모니터링</a:t>
                      </a:r>
                      <a:endParaRPr lang="en-US" altLang="ko-KR" sz="400" spc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영양성분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의무대상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식품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소비기한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변경적용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무독성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과대광고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두피마사지기 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전동킥보드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압력밥솥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KC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모니터링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칫솔 표시광고 모니터링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여성청결제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어린이용 매트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환경성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의약품 오인 화장품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캠핑용품 과대광고 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일반식품 수면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숙면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과대광고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선크림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자외선 차단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태닝제품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과대광고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수세미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환경성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선풍기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수납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용이제품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과대광고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의료기기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광고심의필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표시광고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슬리밍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표방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화장품류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과대광고 모니터링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수세미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환경성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위생용품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환경성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전기모기채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일반식품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건강지향성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표현 모니터링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마사지용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화장품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광고 모니터링 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다이어트식품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일반식품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튼살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표현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제모 제품 표시광고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기초화장품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기미 관련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표시광고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i="0" spc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톤업크림</a:t>
                      </a:r>
                      <a:r>
                        <a:rPr lang="ko-KR" altLang="en-US" sz="400" i="0" spc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과대광고 </a:t>
                      </a:r>
                      <a:endParaRPr lang="en-US" altLang="ko-KR" sz="400" i="0" spc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i="0" spc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모니터링</a:t>
                      </a:r>
                      <a:endParaRPr lang="en-US" altLang="ko-KR" sz="400" i="0" spc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여름철 소형가전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세제류 표시광고 모니터링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유기농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친환경 농산물 모니터링</a:t>
                      </a: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룸스프레이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안전확인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신고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살리실릭에씨드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성분 과대광고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습기제거제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안전확인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신고 여부 점검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어린이용 </a:t>
                      </a: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물놀이용품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모니터링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전자레인지 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지역시장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직배송식품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베이비 </a:t>
                      </a:r>
                      <a:r>
                        <a:rPr kumimoji="0" lang="ko-KR" altLang="en-US" sz="4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마사지용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화장품</a:t>
                      </a:r>
                      <a:r>
                        <a:rPr kumimoji="0" lang="en-US" altLang="ko-KR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과대광고 모니터링</a:t>
                      </a: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클렌징 크림 화장품 표시광고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섬유탈취제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표시사항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전기요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전기매트 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인증사항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믹서기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인증사항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섬유탈취제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표시사항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스팀청소기 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 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전기튀김기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 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i="0" spc="-2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당류제로</a:t>
                      </a:r>
                      <a:r>
                        <a:rPr lang="en-US" altLang="ko-KR" sz="400" i="0" spc="-2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400" i="0" spc="-2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무설탕</a:t>
                      </a:r>
                      <a:r>
                        <a:rPr lang="en-US" altLang="ko-KR" sz="400" i="0" spc="-2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 </a:t>
                      </a:r>
                      <a:r>
                        <a:rPr lang="ko-KR" altLang="en-US" sz="400" i="0" spc="-2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표현관련</a:t>
                      </a:r>
                      <a:r>
                        <a:rPr lang="ko-KR" altLang="en-US" sz="400" i="0" spc="-2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400" i="0" spc="-2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법규적용</a:t>
                      </a:r>
                      <a:r>
                        <a:rPr lang="ko-KR" altLang="en-US" sz="400" i="0" spc="-2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모니터링</a:t>
                      </a:r>
                      <a:endParaRPr lang="en-US" altLang="ko-KR" sz="400" i="0" spc="-2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친환경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식품 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상품정보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여드름피부 완화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인체세정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기능성화장품 표시광고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마사지크림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i="0" spc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전기그릴 </a:t>
                      </a:r>
                      <a:r>
                        <a:rPr lang="en-US" altLang="ko-KR" sz="400" i="0" spc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KC</a:t>
                      </a:r>
                      <a:r>
                        <a:rPr lang="ko-KR" altLang="en-US" sz="400" i="0" spc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인증 모니터링</a:t>
                      </a:r>
                      <a:endParaRPr lang="en-US" altLang="ko-KR" sz="400" i="0" spc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i="0" spc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보조배터리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손난로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인증사항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추석 기획전 상품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햅쌀 표시광고 모니터링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아로마오일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과대광고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바디오일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마이크로니들 표현 제품 표시광고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전기스토브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유기가공식품 모니터링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무알콜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음료 표시광고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LED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마스크 의료기기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오인광고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운동매트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환경성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i="0" spc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건강차</a:t>
                      </a:r>
                      <a:r>
                        <a:rPr lang="en-US" altLang="ko-KR" sz="400" i="0" spc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400" i="0" spc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일반식품</a:t>
                      </a:r>
                      <a:r>
                        <a:rPr lang="en-US" altLang="ko-KR" sz="400" i="0" spc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 </a:t>
                      </a:r>
                      <a:r>
                        <a:rPr lang="ko-KR" altLang="en-US" sz="400" i="0" spc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표시광고 </a:t>
                      </a:r>
                      <a:r>
                        <a:rPr lang="ko-KR" altLang="en-US" sz="400" i="0" spc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모니터링 </a:t>
                      </a:r>
                      <a:endParaRPr lang="en-US" altLang="ko-KR" sz="400" i="0" spc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전기찜질기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온수매트 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인증사항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카페인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함유식품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김장원부재료 원산지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정보고시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바디용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화장품 표시광고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크리스마스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연관상품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운동매트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환경성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표시광고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크리스마스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LED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전구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모니터링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전기오븐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에어프라이어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모니터링 </a:t>
                      </a:r>
                      <a:endParaRPr lang="en-US" altLang="ko-KR" sz="400" b="1" kern="1200" spc="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가정용 운동기구 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모니터링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784420"/>
                  </a:ext>
                </a:extLst>
              </a:tr>
              <a:tr h="859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수시</a:t>
                      </a:r>
                      <a:endParaRPr lang="en-US" altLang="ko-KR" sz="9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0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1200" spc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708"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대외기관</a:t>
                      </a:r>
                      <a:endParaRPr lang="en-US" altLang="ko-KR" sz="9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ESG</a:t>
                      </a:r>
                      <a:endParaRPr lang="ko-KR" altLang="en-US" sz="9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-1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-1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대한무역투자진흥공사</a:t>
                      </a:r>
                      <a:r>
                        <a:rPr kumimoji="0" lang="en-US" altLang="ko-KR" sz="400" b="1" i="0" u="none" strike="noStrike" kern="1200" cap="none" spc="-1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4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해외 수출 바우처 사업 지원 및 수출 컨설팅 논의 </a:t>
                      </a:r>
                      <a:endParaRPr kumimoji="0" lang="en-US" altLang="ko-KR" sz="400" b="0" i="0" u="none" strike="noStrike" kern="1200" cap="none" spc="-4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-1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-1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한국효소식품산업협회</a:t>
                      </a:r>
                      <a:r>
                        <a:rPr kumimoji="0" lang="en-US" altLang="ko-KR" sz="400" b="1" i="0" u="none" strike="noStrike" kern="0" cap="none" spc="-1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1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효소제조</a:t>
                      </a:r>
                      <a:r>
                        <a:rPr kumimoji="0" lang="ko-KR" altLang="en-US" sz="400" b="0" i="0" u="none" strike="noStrike" kern="0" cap="none" spc="-1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표준화 공정 협의 자문</a:t>
                      </a:r>
                      <a:endParaRPr kumimoji="0" lang="en-US" altLang="ko-KR" sz="400" b="0" i="0" u="none" strike="noStrike" kern="0" cap="none" spc="-1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식품의약품안전처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2026 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화장품 정책설명회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한국온라인쇼핑협회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온라인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유통플랫폼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협업체계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간담회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한국국제전시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서울 국제 화장품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미용산업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박람회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대한무역투자진흥공사</a:t>
                      </a:r>
                      <a:r>
                        <a:rPr kumimoji="0" lang="en-US" altLang="ko-KR" sz="400" b="1" i="0" u="none" strike="noStrike" kern="1200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Seoul Food </a:t>
                      </a:r>
                      <a:r>
                        <a:rPr kumimoji="0" lang="ko-KR" altLang="en-US" sz="400" b="0" i="0" u="none" strike="noStrike" kern="1200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박람회 참석</a:t>
                      </a:r>
                      <a:endParaRPr kumimoji="0" lang="en-US" altLang="ko-KR" sz="400" b="0" i="0" u="none" strike="noStrike" kern="1200" cap="none" spc="-2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한국인정기구 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KOLAS]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효율관리제도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온라인관리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참여사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간담회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한국환경산업기술원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온라인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유통플랫폼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협업체계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간담회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한국제품안전관리원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어린이제품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안전관리 제도 설명회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[KATRI</a:t>
                      </a:r>
                      <a:r>
                        <a:rPr kumimoji="0" lang="ko-KR" altLang="en-US" sz="4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시험연구원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환경성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개선제품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표시광고 설명회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한국환경산업기술원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생활화학제품 이행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협의체 간담회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231387"/>
                  </a:ext>
                </a:extLst>
              </a:tr>
              <a:tr h="302052"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언론보도</a:t>
                      </a:r>
                      <a:endParaRPr lang="ko-KR" altLang="en-US" sz="9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명절 식품 안전점검</a:t>
                      </a: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본부장님 </a:t>
                      </a:r>
                      <a:r>
                        <a:rPr lang="ko-KR" altLang="en-US" sz="400" b="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설명절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식품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안전 현장점검 진행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4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44"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품질교육</a:t>
                      </a:r>
                      <a:endParaRPr lang="ko-KR" altLang="en-US" sz="9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/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0" spc="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품질교육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행사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품질교육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0" spc="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[AI 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품질영상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제작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929964"/>
                  </a:ext>
                </a:extLst>
              </a:tr>
              <a:tr h="382541"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세미나</a:t>
                      </a:r>
                      <a:endParaRPr lang="ko-KR" altLang="en-US" sz="9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한국제품안전관리원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전기용품 안전관리책임자 교육 온라인 기본과정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[CESCO]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HACCP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위해요소분석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작성 실무 세미나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[FITI </a:t>
                      </a:r>
                      <a:r>
                        <a:rPr kumimoji="0" lang="ko-KR" altLang="en-US" sz="4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시험연구원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QA-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심의 연계 기능성 </a:t>
                      </a: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시험교육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한국전기안전공사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전기사고조사전문교육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한국제품안전관리원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전기용품 안전관리책임자 교육 심화과정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kern="0" spc="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1" kern="0" spc="-1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400" b="1" kern="0" spc="-1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대한화장품산업연구원</a:t>
                      </a:r>
                      <a:r>
                        <a:rPr lang="en-US" altLang="ko-KR" sz="400" b="1" kern="0" spc="-1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화장품 </a:t>
                      </a:r>
                      <a:r>
                        <a:rPr kumimoji="0" lang="en-US" altLang="ko-KR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GMP </a:t>
                      </a: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내부심사원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교육 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영업자 교육 이수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건강기능식품 유통전문판매원 필수 교육 이수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[CESCO]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해충방어와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이물제어를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통한 클레임 예방관리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489617"/>
                  </a:ext>
                </a:extLst>
              </a:tr>
              <a:tr h="528183">
                <a:tc rowSpan="3"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</a:t>
                      </a:r>
                      <a:endParaRPr lang="en-US" altLang="ko-KR" sz="9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</a:t>
                      </a:r>
                      <a:endParaRPr lang="en-US" altLang="ko-KR" sz="9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  <a:endParaRPr lang="en-US" altLang="ko-KR" sz="9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획</a:t>
                      </a:r>
                      <a:endParaRPr lang="ko-KR" altLang="en-US" sz="9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00" b="1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00" b="1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00" b="1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</a:t>
                      </a:r>
                      <a:endParaRPr lang="en-US" altLang="ko-KR" sz="700" b="1" kern="1200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00" b="1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책</a:t>
                      </a:r>
                      <a:endParaRPr lang="ko-KR" altLang="en-US" sz="700" b="1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1" kern="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400" b="1" kern="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명절식품</a:t>
                      </a:r>
                      <a:r>
                        <a:rPr lang="ko-KR" altLang="en-US" sz="400" b="1" kern="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관리계획</a:t>
                      </a:r>
                      <a:r>
                        <a:rPr lang="en-US" altLang="ko-KR" sz="400" b="1" kern="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 식품 안전관리 계획 수립</a:t>
                      </a:r>
                      <a:r>
                        <a:rPr lang="en-US" altLang="ko-KR" sz="400" b="0" kern="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400" b="0" kern="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시행</a:t>
                      </a:r>
                      <a:endParaRPr lang="en-US" altLang="ko-KR" sz="400" b="0" kern="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[PB/LB </a:t>
                      </a:r>
                      <a:r>
                        <a:rPr kumimoji="0" lang="ko-KR" altLang="en-US" sz="4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품질간담회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품질관련 리뷰 및 개선방안 도출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긴급품질경고</a:t>
                      </a: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(EQS)]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론칭 </a:t>
                      </a: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400" b="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일이내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Critical VOC 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식품 </a:t>
                      </a:r>
                      <a:r>
                        <a:rPr kumimoji="0" lang="ko-KR" altLang="en-US" sz="400" b="1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위해요소</a:t>
                      </a:r>
                      <a:r>
                        <a:rPr kumimoji="0" lang="ko-KR" altLang="en-US" sz="400" b="1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매뉴얼</a:t>
                      </a:r>
                      <a:r>
                        <a:rPr kumimoji="0" lang="en-US" altLang="ko-KR" sz="400" b="1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식품 </a:t>
                      </a:r>
                      <a:r>
                        <a:rPr kumimoji="0" lang="en-US" altLang="ko-KR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QA 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메뉴 통일화 및 </a:t>
                      </a: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위해요소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매뉴얼 추가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협력사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QA Grading]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제조등급제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도입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[PB/LB </a:t>
                      </a:r>
                      <a:r>
                        <a:rPr kumimoji="0" lang="ko-KR" altLang="en-US" sz="4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품질간담회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품질관련 리뷰 및 개선방안 도출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명절식품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관리계획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추석 식품 안전관리 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계획 수립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시행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[SQR </a:t>
                      </a:r>
                      <a:r>
                        <a:rPr lang="ko-KR" altLang="en-US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전문 자격 취득</a:t>
                      </a: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SQR 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개발자 자격증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[AICE </a:t>
                      </a:r>
                      <a:r>
                        <a:rPr lang="ko-KR" altLang="en-US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자격 취득</a:t>
                      </a: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 Certificate 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자격증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[ISO </a:t>
                      </a:r>
                      <a:r>
                        <a:rPr lang="ko-KR" altLang="en-US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심사원 자격 취득</a:t>
                      </a: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품질경영시스템 내부 심사원 전문 자격 취득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406118"/>
                  </a:ext>
                </a:extLst>
              </a:tr>
              <a:tr h="67388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00" b="1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</a:t>
                      </a:r>
                      <a:endParaRPr lang="en-US" altLang="ko-KR" sz="700" b="1" kern="1200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00" b="1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</a:t>
                      </a:r>
                      <a:endParaRPr lang="en-US" altLang="ko-KR" sz="700" b="1" kern="1200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00" b="1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</a:t>
                      </a:r>
                      <a:endParaRPr lang="en-US" altLang="ko-KR" sz="700" b="1" kern="1200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00" b="1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진</a:t>
                      </a:r>
                      <a:endParaRPr lang="ko-KR" altLang="en-US" sz="700" b="1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400" b="1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콜드체인</a:t>
                      </a:r>
                      <a:r>
                        <a:rPr lang="ko-KR" altLang="en-US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-2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온도변색라벨 부착 </a:t>
                      </a:r>
                      <a:r>
                        <a:rPr lang="ko-KR" altLang="en-US" sz="400" b="0" kern="1200" spc="-2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endParaRPr lang="en-US" altLang="ko-KR" sz="400" b="0" kern="1200" spc="-2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-2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포장 가이드 수립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kern="1200" spc="-3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SCM </a:t>
                      </a:r>
                      <a:r>
                        <a:rPr lang="ko-KR" altLang="en-US" sz="400" b="0" kern="1200" spc="-3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연계 포장 기준 마련</a:t>
                      </a:r>
                      <a:endParaRPr lang="en-US" altLang="ko-KR" sz="400" b="0" kern="1200" spc="-3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축산기업중앙회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식육판매업자 축산물 위생교육 수료증 갱신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디지털 제품 여권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원산지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제조공정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시험결과 등 </a:t>
                      </a:r>
                      <a:r>
                        <a:rPr kumimoji="0" lang="en-US" altLang="ko-KR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QR 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제공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마포구보건소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의료기기판매업자자율 </a:t>
                      </a: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점검표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제출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한국환경공단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재활용의무대상 제품</a:t>
                      </a:r>
                      <a:r>
                        <a:rPr kumimoji="0" lang="en-US" altLang="ko-KR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포장재 출고 </a:t>
                      </a:r>
                      <a:r>
                        <a:rPr kumimoji="0" lang="ko-KR" altLang="en-US" sz="400" b="0" i="0" u="none" strike="noStrike" kern="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실적서</a:t>
                      </a: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제출</a:t>
                      </a:r>
                      <a:endParaRPr kumimoji="0" lang="en-US" altLang="ko-KR" sz="4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b="0" spc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식품안전정보원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건강기능식품 이력추적관리시스템 </a:t>
                      </a:r>
                      <a:r>
                        <a:rPr kumimoji="0" lang="ko-KR" altLang="en-US" sz="400" b="0" i="0" u="none" strike="noStrike" kern="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정기심사</a:t>
                      </a:r>
                      <a:r>
                        <a:rPr kumimoji="0" lang="ko-KR" altLang="en-US" sz="4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i="0" kern="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식품안전가이드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하절기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냉동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냉장안전가이드 배포</a:t>
                      </a:r>
                      <a:endParaRPr kumimoji="0" lang="en-US" altLang="ko-KR" sz="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[QA</a:t>
                      </a:r>
                      <a:r>
                        <a:rPr kumimoji="0" lang="ko-KR" altLang="en-US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가이드북</a:t>
                      </a:r>
                      <a:r>
                        <a:rPr kumimoji="0" lang="en-US" altLang="ko-KR" sz="4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QA Guidebook,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전자책 제작</a:t>
                      </a:r>
                      <a:r>
                        <a:rPr kumimoji="0" lang="en-US" altLang="ko-KR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지식재산권 보호 프로세스</a:t>
                      </a:r>
                      <a:r>
                        <a:rPr kumimoji="0" lang="en-US" altLang="ko-KR" sz="400" b="1" i="0" u="none" strike="noStrike" kern="1200" cap="none" spc="-6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페이커즈</a:t>
                      </a:r>
                      <a:r>
                        <a:rPr kumimoji="0" lang="ko-KR" altLang="en-US" sz="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활용 지식재산권 보호 방안 구축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altLang="ko-KR" sz="400" spc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b="0" spc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spc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-4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-4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동절기 </a:t>
                      </a:r>
                      <a:r>
                        <a:rPr kumimoji="0" lang="ko-KR" altLang="en-US" sz="400" b="1" i="0" u="none" strike="noStrike" kern="1200" cap="none" spc="-4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배송포장</a:t>
                      </a:r>
                      <a:r>
                        <a:rPr kumimoji="0" lang="ko-KR" altLang="en-US" sz="400" b="1" i="0" u="none" strike="noStrike" kern="1200" cap="none" spc="-4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가이드</a:t>
                      </a:r>
                      <a:r>
                        <a:rPr kumimoji="0" lang="en-US" altLang="ko-KR" sz="400" b="1" i="0" u="none" strike="noStrike" kern="1200" cap="none" spc="-4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포스터 제작 </a:t>
                      </a:r>
                      <a:r>
                        <a:rPr kumimoji="0" lang="en-US" altLang="ko-KR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SCM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업로드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spc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spc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30040"/>
                  </a:ext>
                </a:extLst>
              </a:tr>
              <a:tr h="48650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</a:t>
                      </a:r>
                      <a:endParaRPr lang="en-US" altLang="ko-KR" sz="7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</a:t>
                      </a:r>
                      <a:endParaRPr lang="en-US" altLang="ko-KR" sz="700" b="1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00" b="1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템</a:t>
                      </a:r>
                      <a:endParaRPr lang="ko-KR" altLang="en-US" sz="7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1" kern="1200" spc="-8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[RPA </a:t>
                      </a:r>
                      <a:r>
                        <a:rPr lang="ko-KR" altLang="en-US" sz="400" b="1" kern="1200" spc="-8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대외기관정보</a:t>
                      </a:r>
                      <a:r>
                        <a:rPr lang="en-US" altLang="ko-KR" sz="400" b="1" kern="1200" spc="-8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400" b="1" kern="1200" spc="-8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수신 개선</a:t>
                      </a:r>
                      <a:r>
                        <a:rPr lang="en-US" altLang="ko-KR" sz="400" b="1" kern="1200" spc="-8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" b="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정보수신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400" b="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대외기관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인</a:t>
                      </a: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아웃 및 오류 개선</a:t>
                      </a: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[BO</a:t>
                      </a:r>
                      <a:r>
                        <a:rPr lang="ko-KR" altLang="en-US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키워드 모니터링</a:t>
                      </a:r>
                      <a:r>
                        <a:rPr lang="en-US" altLang="ko-KR" sz="400" b="1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OCR </a:t>
                      </a:r>
                      <a:r>
                        <a:rPr lang="ko-KR" altLang="en-US" sz="400" b="0" kern="1200" spc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활용 상세페이지 키워드 모니터링 개발</a:t>
                      </a: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kern="1200" spc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spc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spc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spc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spc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4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직매입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소비기한</a:t>
                      </a:r>
                      <a:r>
                        <a:rPr kumimoji="0" lang="ko-KR" altLang="en-US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연동</a:t>
                      </a:r>
                      <a:r>
                        <a:rPr kumimoji="0" lang="en-US" altLang="ko-KR" sz="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직매입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로트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관리 및 프론트 </a:t>
                      </a: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소비기한</a:t>
                      </a:r>
                      <a:r>
                        <a:rPr kumimoji="0" lang="ko-KR" altLang="en-US" sz="400" b="0" i="0" u="none" strike="noStrike" kern="1200" cap="none" spc="-2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400" b="0" i="0" u="none" strike="noStrike" kern="1200" cap="none" spc="-2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연동노출</a:t>
                      </a:r>
                      <a:endParaRPr kumimoji="0" lang="en-US" altLang="ko-KR" sz="40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spc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400" spc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483755"/>
                  </a:ext>
                </a:extLst>
              </a:tr>
            </a:tbl>
          </a:graphicData>
        </a:graphic>
      </p:graphicFrame>
      <p:pic>
        <p:nvPicPr>
          <p:cNvPr id="8" name="그림 7" descr="sk stoa에 대한 이미지 검색결과">
            <a:hlinkClick r:id="rId3" tgtFrame="&quot;_blank&quot;"/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69" t="23069" r="35300" b="22828"/>
          <a:stretch/>
        </p:blipFill>
        <p:spPr bwMode="auto">
          <a:xfrm>
            <a:off x="110368" y="157666"/>
            <a:ext cx="816377" cy="3827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6600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511775"/>
              </p:ext>
            </p:extLst>
          </p:nvPr>
        </p:nvGraphicFramePr>
        <p:xfrm>
          <a:off x="27583" y="660847"/>
          <a:ext cx="8035272" cy="9895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4250284727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72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구분 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9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69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시즌특성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새해</a:t>
                      </a:r>
                      <a:endParaRPr lang="en-US" altLang="ko-KR" sz="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 명절</a:t>
                      </a:r>
                      <a:endParaRPr lang="en-US" altLang="ko-KR" sz="6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발렌타인데이</a:t>
                      </a:r>
                      <a:endParaRPr lang="en-US" altLang="ko-KR" sz="6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신학기</a:t>
                      </a:r>
                      <a:endParaRPr lang="en-US" altLang="ko-KR" sz="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화이트데이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봄</a:t>
                      </a:r>
                      <a:r>
                        <a:rPr lang="en-US" altLang="ko-KR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환절기</a:t>
                      </a:r>
                      <a:r>
                        <a:rPr lang="en-US" altLang="ko-KR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이사철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가정의 달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캠핑시즌</a:t>
                      </a:r>
                      <a:endParaRPr lang="en-US" altLang="ko-KR" sz="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물놀이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하절기</a:t>
                      </a:r>
                      <a:endParaRPr lang="en-US" altLang="ko-KR" sz="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휴가철</a:t>
                      </a:r>
                      <a:endParaRPr lang="en-US" altLang="ko-KR" sz="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역시즌상품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추석 명절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가을</a:t>
                      </a:r>
                      <a:r>
                        <a:rPr lang="en-US" altLang="ko-KR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환절기</a:t>
                      </a:r>
                      <a:r>
                        <a:rPr lang="en-US" altLang="ko-KR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김장철</a:t>
                      </a:r>
                      <a:endParaRPr lang="en-US" altLang="ko-KR" sz="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수능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크리스마스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9600" marR="39600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782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</a:t>
                      </a:r>
                    </a:p>
                    <a:p>
                      <a:pPr algn="ctr" latinLnBrk="1"/>
                      <a:r>
                        <a:rPr lang="en-US" altLang="ko-KR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</a:p>
                    <a:p>
                      <a:pPr algn="ctr" latinLnBrk="1"/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진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행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슈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1201" marR="81201" marT="40600" marB="40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1201" marR="81201" marT="40600" marB="40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b="1" kern="1200" spc="0" baseline="0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kern="120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606170"/>
                  </a:ext>
                </a:extLst>
              </a:tr>
              <a:tr h="3684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현장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1201" marR="81201" marT="40600" marB="40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350" b="0" kern="1200" spc="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35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350" b="0" i="0" u="none" strike="noStrike" kern="1200" cap="none" spc="-5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35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350" b="0" i="0" u="none" strike="noStrike" kern="1200" cap="none" spc="-2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b="0" kern="100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350" b="0" kern="120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400" b="1" kern="1200" spc="0" baseline="0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369528"/>
                  </a:ext>
                </a:extLst>
              </a:tr>
              <a:tr h="32703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암행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1201" marR="81201" marT="40600" marB="40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35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35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35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350" b="0" i="0" u="none" strike="noStrike" kern="1200" cap="none" spc="-5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400" b="0" i="0" u="none" strike="noStrike" kern="1200" cap="none" spc="-8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-9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80000"/>
                        </a:lnSpc>
                      </a:pPr>
                      <a:endParaRPr lang="en-US" altLang="ko-KR" sz="400" b="0" kern="120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1" kern="1200" spc="0" baseline="0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1987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9600" marR="39600" marT="40600" marB="406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371"/>
                  </a:ext>
                </a:extLst>
              </a:tr>
            </a:tbl>
          </a:graphicData>
        </a:graphic>
      </p:graphicFrame>
      <p:pic>
        <p:nvPicPr>
          <p:cNvPr id="8" name="그림 7" descr="sk stoa에 대한 이미지 검색결과">
            <a:hlinkClick r:id="rId3" tgtFrame="&quot;_blank&quot;"/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69" t="23069" r="35300" b="22828"/>
          <a:stretch/>
        </p:blipFill>
        <p:spPr bwMode="auto">
          <a:xfrm>
            <a:off x="110370" y="156791"/>
            <a:ext cx="816377" cy="3827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모서리가 둥근 직사각형 8"/>
          <p:cNvSpPr/>
          <p:nvPr/>
        </p:nvSpPr>
        <p:spPr>
          <a:xfrm>
            <a:off x="2749167" y="99072"/>
            <a:ext cx="2621729" cy="447613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43" b="1" dirty="0" smtClean="0">
                <a:solidFill>
                  <a:schemeClr val="bg1"/>
                </a:solidFill>
              </a:rPr>
              <a:t>26</a:t>
            </a:r>
            <a:r>
              <a:rPr lang="ko-KR" altLang="en-US" sz="1243" b="1" dirty="0" smtClean="0">
                <a:solidFill>
                  <a:schemeClr val="bg1"/>
                </a:solidFill>
              </a:rPr>
              <a:t>년 </a:t>
            </a:r>
            <a:r>
              <a:rPr lang="ko-KR" altLang="en-US" sz="1243" b="1" dirty="0" err="1" smtClean="0">
                <a:solidFill>
                  <a:schemeClr val="bg1"/>
                </a:solidFill>
              </a:rPr>
              <a:t>품질관리팀</a:t>
            </a:r>
            <a:r>
              <a:rPr lang="en-US" altLang="ko-KR" sz="1243" b="1" dirty="0" smtClean="0">
                <a:solidFill>
                  <a:schemeClr val="bg1"/>
                </a:solidFill>
              </a:rPr>
              <a:t> </a:t>
            </a:r>
            <a:r>
              <a:rPr lang="ko-KR" altLang="en-US" sz="1243" b="1" dirty="0" smtClean="0">
                <a:solidFill>
                  <a:schemeClr val="bg1"/>
                </a:solidFill>
              </a:rPr>
              <a:t>상품 </a:t>
            </a:r>
            <a:r>
              <a:rPr lang="ko-KR" altLang="en-US" sz="1243" b="1" dirty="0" err="1" smtClean="0">
                <a:solidFill>
                  <a:schemeClr val="bg1"/>
                </a:solidFill>
              </a:rPr>
              <a:t>진행이슈</a:t>
            </a:r>
            <a:endParaRPr lang="ko-KR" altLang="en-US" sz="1243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52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13622</TotalTime>
  <Words>1699</Words>
  <Application>Microsoft Office PowerPoint</Application>
  <PresentationFormat>B4(ISO) 용지(250x353mm)</PresentationFormat>
  <Paragraphs>733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SKbroadband</dc:creator>
  <cp:lastModifiedBy>SKstoa</cp:lastModifiedBy>
  <cp:revision>964</cp:revision>
  <cp:lastPrinted>2025-12-18T01:16:44Z</cp:lastPrinted>
  <dcterms:created xsi:type="dcterms:W3CDTF">2017-12-06T05:01:14Z</dcterms:created>
  <dcterms:modified xsi:type="dcterms:W3CDTF">2025-12-18T06:05:23Z</dcterms:modified>
</cp:coreProperties>
</file>